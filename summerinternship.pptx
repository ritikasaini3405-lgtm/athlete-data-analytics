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bhaya Libre" charset="1" panose="02000503000000000000"/>
      <p:regular r:id="rId20"/>
    </p:embeddedFont>
    <p:embeddedFont>
      <p:font typeface="Abhaya Libre Bold" charset="1" panose="02000803000000000000"/>
      <p:regular r:id="rId21"/>
    </p:embeddedFont>
    <p:embeddedFont>
      <p:font typeface="Abhaya Libre Medium" charset="1" panose="02000603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393529" y="2458698"/>
            <a:ext cx="18844458" cy="15656604"/>
          </a:xfrm>
          <a:custGeom>
            <a:avLst/>
            <a:gdLst/>
            <a:ahLst/>
            <a:cxnLst/>
            <a:rect r="r" b="b" t="t" l="l"/>
            <a:pathLst>
              <a:path h="15656604" w="18844458">
                <a:moveTo>
                  <a:pt x="0" y="0"/>
                </a:moveTo>
                <a:lnTo>
                  <a:pt x="18844458" y="0"/>
                </a:lnTo>
                <a:lnTo>
                  <a:pt x="18844458" y="15656604"/>
                </a:lnTo>
                <a:lnTo>
                  <a:pt x="0" y="15656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515514">
            <a:off x="8455162" y="-5002175"/>
            <a:ext cx="16562535" cy="13760706"/>
          </a:xfrm>
          <a:custGeom>
            <a:avLst/>
            <a:gdLst/>
            <a:ahLst/>
            <a:cxnLst/>
            <a:rect r="r" b="b" t="t" l="l"/>
            <a:pathLst>
              <a:path h="13760706" w="16562535">
                <a:moveTo>
                  <a:pt x="0" y="0"/>
                </a:moveTo>
                <a:lnTo>
                  <a:pt x="16562536" y="0"/>
                </a:lnTo>
                <a:lnTo>
                  <a:pt x="16562536" y="13760706"/>
                </a:lnTo>
                <a:lnTo>
                  <a:pt x="0" y="137607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35068" y="901426"/>
            <a:ext cx="1212722" cy="1410435"/>
          </a:xfrm>
          <a:custGeom>
            <a:avLst/>
            <a:gdLst/>
            <a:ahLst/>
            <a:cxnLst/>
            <a:rect r="r" b="b" t="t" l="l"/>
            <a:pathLst>
              <a:path h="1410435" w="1212722">
                <a:moveTo>
                  <a:pt x="0" y="0"/>
                </a:moveTo>
                <a:lnTo>
                  <a:pt x="1212722" y="0"/>
                </a:lnTo>
                <a:lnTo>
                  <a:pt x="1212722" y="1410435"/>
                </a:lnTo>
                <a:lnTo>
                  <a:pt x="0" y="1410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29" t="-608" r="0" b="-670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77115" y="3160347"/>
            <a:ext cx="14153591" cy="2798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30"/>
              </a:lnSpc>
            </a:pPr>
            <a:r>
              <a:rPr lang="en-US" sz="5307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SUMMER INTERNSHIP PRESENTATION</a:t>
            </a:r>
          </a:p>
          <a:p>
            <a:pPr algn="ctr">
              <a:lnSpc>
                <a:spcPts val="7430"/>
              </a:lnSpc>
            </a:pPr>
            <a:r>
              <a:rPr lang="en-US" sz="5307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Data Analytics projects</a:t>
            </a:r>
          </a:p>
          <a:p>
            <a:pPr algn="ctr" marL="0" indent="0" lvl="0">
              <a:lnSpc>
                <a:spcPts val="743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586537" y="1320127"/>
            <a:ext cx="9150313" cy="558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3"/>
              </a:lnSpc>
            </a:pPr>
            <a:r>
              <a:rPr lang="en-US" sz="3823" b="true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jaypee institute of informatio and technology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4560" y="5739651"/>
            <a:ext cx="14153591" cy="323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0"/>
              </a:lnSpc>
            </a:pPr>
            <a:r>
              <a:rPr lang="en-US" sz="3307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Presented by: Ritika Saini</a:t>
            </a:r>
          </a:p>
          <a:p>
            <a:pPr algn="l">
              <a:lnSpc>
                <a:spcPts val="4630"/>
              </a:lnSpc>
            </a:pPr>
            <a:r>
              <a:rPr lang="en-US" sz="3307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Mentor: Mr. Surakshit Kapoor</a:t>
            </a:r>
          </a:p>
          <a:p>
            <a:pPr algn="l">
              <a:lnSpc>
                <a:spcPts val="4630"/>
              </a:lnSpc>
            </a:pPr>
            <a:r>
              <a:rPr lang="en-US" sz="3307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Organization: Imarticus Learning, Delhi</a:t>
            </a:r>
          </a:p>
          <a:p>
            <a:pPr algn="l">
              <a:lnSpc>
                <a:spcPts val="4630"/>
              </a:lnSpc>
            </a:pPr>
            <a:r>
              <a:rPr lang="en-US" sz="3307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Duration: Six Weeks</a:t>
            </a:r>
          </a:p>
          <a:p>
            <a:pPr algn="ctr" marL="0" indent="0" lvl="0">
              <a:lnSpc>
                <a:spcPts val="743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422229" y="-8062287"/>
            <a:ext cx="18844458" cy="15656604"/>
          </a:xfrm>
          <a:custGeom>
            <a:avLst/>
            <a:gdLst/>
            <a:ahLst/>
            <a:cxnLst/>
            <a:rect r="r" b="b" t="t" l="l"/>
            <a:pathLst>
              <a:path h="15656604" w="18844458">
                <a:moveTo>
                  <a:pt x="0" y="0"/>
                </a:moveTo>
                <a:lnTo>
                  <a:pt x="18844458" y="0"/>
                </a:lnTo>
                <a:lnTo>
                  <a:pt x="18844458" y="15656604"/>
                </a:lnTo>
                <a:lnTo>
                  <a:pt x="0" y="15656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19086" y="1859548"/>
            <a:ext cx="18844458" cy="15656604"/>
          </a:xfrm>
          <a:custGeom>
            <a:avLst/>
            <a:gdLst/>
            <a:ahLst/>
            <a:cxnLst/>
            <a:rect r="r" b="b" t="t" l="l"/>
            <a:pathLst>
              <a:path h="15656604" w="18844458">
                <a:moveTo>
                  <a:pt x="0" y="0"/>
                </a:moveTo>
                <a:lnTo>
                  <a:pt x="18844458" y="0"/>
                </a:lnTo>
                <a:lnTo>
                  <a:pt x="18844458" y="15656603"/>
                </a:lnTo>
                <a:lnTo>
                  <a:pt x="0" y="15656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674943" y="2175551"/>
            <a:ext cx="10938115" cy="6039370"/>
            <a:chOff x="0" y="0"/>
            <a:chExt cx="2880820" cy="15906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80820" cy="1590616"/>
            </a:xfrm>
            <a:custGeom>
              <a:avLst/>
              <a:gdLst/>
              <a:ahLst/>
              <a:cxnLst/>
              <a:rect r="r" b="b" t="t" l="l"/>
              <a:pathLst>
                <a:path h="1590616" w="2880820">
                  <a:moveTo>
                    <a:pt x="9201" y="0"/>
                  </a:moveTo>
                  <a:lnTo>
                    <a:pt x="2871619" y="0"/>
                  </a:lnTo>
                  <a:cubicBezTo>
                    <a:pt x="2874059" y="0"/>
                    <a:pt x="2876400" y="969"/>
                    <a:pt x="2878125" y="2695"/>
                  </a:cubicBezTo>
                  <a:cubicBezTo>
                    <a:pt x="2879851" y="4421"/>
                    <a:pt x="2880820" y="6761"/>
                    <a:pt x="2880820" y="9201"/>
                  </a:cubicBezTo>
                  <a:lnTo>
                    <a:pt x="2880820" y="1581415"/>
                  </a:lnTo>
                  <a:cubicBezTo>
                    <a:pt x="2880820" y="1586496"/>
                    <a:pt x="2876701" y="1590616"/>
                    <a:pt x="2871619" y="1590616"/>
                  </a:cubicBezTo>
                  <a:lnTo>
                    <a:pt x="9201" y="1590616"/>
                  </a:lnTo>
                  <a:cubicBezTo>
                    <a:pt x="4120" y="1590616"/>
                    <a:pt x="0" y="1586496"/>
                    <a:pt x="0" y="1581415"/>
                  </a:cubicBezTo>
                  <a:lnTo>
                    <a:pt x="0" y="9201"/>
                  </a:lnTo>
                  <a:cubicBezTo>
                    <a:pt x="0" y="4120"/>
                    <a:pt x="4120" y="0"/>
                    <a:pt x="92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0F0F0">
                    <a:alpha val="12500"/>
                  </a:srgbClr>
                </a:gs>
                <a:gs pos="100000">
                  <a:srgbClr val="EBEBEB">
                    <a:alpha val="28000"/>
                  </a:srgbClr>
                </a:gs>
              </a:gsLst>
              <a:lin ang="0"/>
            </a:gra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52400"/>
              <a:ext cx="2880820" cy="1743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9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159306" y="3976574"/>
            <a:ext cx="9969388" cy="3127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7933" indent="-318967" lvl="1">
              <a:lnSpc>
                <a:spcPts val="4136"/>
              </a:lnSpc>
              <a:buFont typeface="Arial"/>
              <a:buChar char="•"/>
            </a:pPr>
            <a:r>
              <a:rPr lang="en-US" sz="2954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Inte</a:t>
            </a:r>
            <a:r>
              <a:rPr lang="en-US" sz="2954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rnship domain and objectives</a:t>
            </a:r>
          </a:p>
          <a:p>
            <a:pPr algn="l" marL="637933" indent="-318967" lvl="1">
              <a:lnSpc>
                <a:spcPts val="4136"/>
              </a:lnSpc>
              <a:buFont typeface="Arial"/>
              <a:buChar char="•"/>
            </a:pPr>
            <a:r>
              <a:rPr lang="en-US" sz="2954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Employee Payroll Data Analysis</a:t>
            </a:r>
          </a:p>
          <a:p>
            <a:pPr algn="l" marL="637933" indent="-318967" lvl="1">
              <a:lnSpc>
                <a:spcPts val="4136"/>
              </a:lnSpc>
              <a:buFont typeface="Arial"/>
              <a:buChar char="•"/>
            </a:pPr>
            <a:r>
              <a:rPr lang="en-US" sz="2954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Mental Health Survey Analysis using Power BI</a:t>
            </a:r>
          </a:p>
          <a:p>
            <a:pPr algn="l" marL="637933" indent="-318967" lvl="1">
              <a:lnSpc>
                <a:spcPts val="4136"/>
              </a:lnSpc>
              <a:buFont typeface="Arial"/>
              <a:buChar char="•"/>
            </a:pPr>
            <a:r>
              <a:rPr lang="en-US" sz="2954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Athlete Data Analytics using Python</a:t>
            </a:r>
          </a:p>
          <a:p>
            <a:pPr algn="l" marL="637933" indent="-318967" lvl="1">
              <a:lnSpc>
                <a:spcPts val="4136"/>
              </a:lnSpc>
              <a:buFont typeface="Arial"/>
              <a:buChar char="•"/>
            </a:pPr>
            <a:r>
              <a:rPr lang="en-US" sz="2954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Professional development and weekly progress</a:t>
            </a:r>
          </a:p>
          <a:p>
            <a:pPr algn="l" marL="637933" indent="-318967" lvl="1">
              <a:lnSpc>
                <a:spcPts val="4136"/>
              </a:lnSpc>
              <a:buFont typeface="Arial"/>
              <a:buChar char="•"/>
            </a:pPr>
            <a:r>
              <a:rPr lang="en-US" sz="2954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Results, learning outcomes and future scope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74943" y="2013626"/>
            <a:ext cx="10861321" cy="2670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52"/>
              </a:lnSpc>
            </a:pPr>
            <a:r>
              <a:rPr lang="en-US" sz="7608" b="true">
                <a:solidFill>
                  <a:srgbClr val="000000"/>
                </a:solidFill>
                <a:latin typeface="Abhaya Libre Medium"/>
                <a:ea typeface="Abhaya Libre Medium"/>
                <a:cs typeface="Abhaya Libre Medium"/>
                <a:sym typeface="Abhaya Libre Medium"/>
              </a:rPr>
              <a:t>Presentation Overview</a:t>
            </a:r>
          </a:p>
          <a:p>
            <a:pPr algn="ctr" marL="0" indent="0" lvl="0">
              <a:lnSpc>
                <a:spcPts val="1065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422229" y="-8062287"/>
            <a:ext cx="18844458" cy="15656604"/>
          </a:xfrm>
          <a:custGeom>
            <a:avLst/>
            <a:gdLst/>
            <a:ahLst/>
            <a:cxnLst/>
            <a:rect r="r" b="b" t="t" l="l"/>
            <a:pathLst>
              <a:path h="15656604" w="18844458">
                <a:moveTo>
                  <a:pt x="0" y="0"/>
                </a:moveTo>
                <a:lnTo>
                  <a:pt x="18844458" y="0"/>
                </a:lnTo>
                <a:lnTo>
                  <a:pt x="18844458" y="15656604"/>
                </a:lnTo>
                <a:lnTo>
                  <a:pt x="0" y="15656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19086" y="1641518"/>
            <a:ext cx="18844458" cy="15656604"/>
          </a:xfrm>
          <a:custGeom>
            <a:avLst/>
            <a:gdLst/>
            <a:ahLst/>
            <a:cxnLst/>
            <a:rect r="r" b="b" t="t" l="l"/>
            <a:pathLst>
              <a:path h="15656604" w="18844458">
                <a:moveTo>
                  <a:pt x="0" y="0"/>
                </a:moveTo>
                <a:lnTo>
                  <a:pt x="18844458" y="0"/>
                </a:lnTo>
                <a:lnTo>
                  <a:pt x="18844458" y="15656603"/>
                </a:lnTo>
                <a:lnTo>
                  <a:pt x="0" y="15656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674943" y="2175551"/>
            <a:ext cx="10938115" cy="6039370"/>
            <a:chOff x="0" y="0"/>
            <a:chExt cx="2880820" cy="15906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80820" cy="1590616"/>
            </a:xfrm>
            <a:custGeom>
              <a:avLst/>
              <a:gdLst/>
              <a:ahLst/>
              <a:cxnLst/>
              <a:rect r="r" b="b" t="t" l="l"/>
              <a:pathLst>
                <a:path h="1590616" w="2880820">
                  <a:moveTo>
                    <a:pt x="9201" y="0"/>
                  </a:moveTo>
                  <a:lnTo>
                    <a:pt x="2871619" y="0"/>
                  </a:lnTo>
                  <a:cubicBezTo>
                    <a:pt x="2874059" y="0"/>
                    <a:pt x="2876400" y="969"/>
                    <a:pt x="2878125" y="2695"/>
                  </a:cubicBezTo>
                  <a:cubicBezTo>
                    <a:pt x="2879851" y="4421"/>
                    <a:pt x="2880820" y="6761"/>
                    <a:pt x="2880820" y="9201"/>
                  </a:cubicBezTo>
                  <a:lnTo>
                    <a:pt x="2880820" y="1581415"/>
                  </a:lnTo>
                  <a:cubicBezTo>
                    <a:pt x="2880820" y="1586496"/>
                    <a:pt x="2876701" y="1590616"/>
                    <a:pt x="2871619" y="1590616"/>
                  </a:cubicBezTo>
                  <a:lnTo>
                    <a:pt x="9201" y="1590616"/>
                  </a:lnTo>
                  <a:cubicBezTo>
                    <a:pt x="4120" y="1590616"/>
                    <a:pt x="0" y="1586496"/>
                    <a:pt x="0" y="1581415"/>
                  </a:cubicBezTo>
                  <a:lnTo>
                    <a:pt x="0" y="9201"/>
                  </a:lnTo>
                  <a:cubicBezTo>
                    <a:pt x="0" y="4120"/>
                    <a:pt x="4120" y="0"/>
                    <a:pt x="92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0F0F0">
                    <a:alpha val="12500"/>
                  </a:srgbClr>
                </a:gs>
                <a:gs pos="100000">
                  <a:srgbClr val="EBEBEB">
                    <a:alpha val="28000"/>
                  </a:srgbClr>
                </a:gs>
              </a:gsLst>
              <a:lin ang="0"/>
            </a:gra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52400"/>
              <a:ext cx="2880820" cy="1743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9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077534" y="3546173"/>
            <a:ext cx="8264239" cy="4384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6548" indent="-298274" lvl="1">
              <a:lnSpc>
                <a:spcPts val="3868"/>
              </a:lnSpc>
              <a:buFont typeface="Arial"/>
              <a:buChar char="•"/>
            </a:pPr>
            <a:r>
              <a:rPr lang="en-US" sz="2763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Unde</a:t>
            </a:r>
            <a:r>
              <a:rPr lang="en-US" sz="2763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rstand the complete data analytics workflow</a:t>
            </a:r>
          </a:p>
          <a:p>
            <a:pPr algn="l" marL="596548" indent="-298274" lvl="1">
              <a:lnSpc>
                <a:spcPts val="3868"/>
              </a:lnSpc>
              <a:buFont typeface="Arial"/>
              <a:buChar char="•"/>
            </a:pPr>
            <a:r>
              <a:rPr lang="en-US" sz="2763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Work with Excel, Power BI, Python and web-based data tools</a:t>
            </a:r>
          </a:p>
          <a:p>
            <a:pPr algn="l" marL="596548" indent="-298274" lvl="1">
              <a:lnSpc>
                <a:spcPts val="3868"/>
              </a:lnSpc>
              <a:buFont typeface="Arial"/>
              <a:buChar char="•"/>
            </a:pPr>
            <a:r>
              <a:rPr lang="en-US" sz="2763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Perform data cleaning, exploration, visualization and interpretation</a:t>
            </a:r>
          </a:p>
          <a:p>
            <a:pPr algn="l" marL="596548" indent="-298274" lvl="1">
              <a:lnSpc>
                <a:spcPts val="3868"/>
              </a:lnSpc>
              <a:buFont typeface="Arial"/>
              <a:buChar char="•"/>
            </a:pPr>
            <a:r>
              <a:rPr lang="en-US" sz="2763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Create a model base accuracy in machine learning</a:t>
            </a:r>
          </a:p>
          <a:p>
            <a:pPr algn="l" marL="596548" indent="-298274" lvl="1">
              <a:lnSpc>
                <a:spcPts val="3868"/>
              </a:lnSpc>
              <a:buFont typeface="Arial"/>
              <a:buChar char="•"/>
            </a:pPr>
            <a:r>
              <a:rPr lang="en-US" sz="2763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Improve communication, documentation, teamwork and professional readiness</a:t>
            </a:r>
          </a:p>
          <a:p>
            <a:pPr algn="just" marL="0" indent="0" lvl="0">
              <a:lnSpc>
                <a:spcPts val="3868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674943" y="2004101"/>
            <a:ext cx="10271678" cy="2789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17"/>
              </a:lnSpc>
            </a:pPr>
            <a:r>
              <a:rPr lang="en-US" sz="7941" b="true">
                <a:solidFill>
                  <a:srgbClr val="000000"/>
                </a:solidFill>
                <a:latin typeface="Abhaya Libre Medium"/>
                <a:ea typeface="Abhaya Libre Medium"/>
                <a:cs typeface="Abhaya Libre Medium"/>
                <a:sym typeface="Abhaya Libre Medium"/>
              </a:rPr>
              <a:t>Internship Objectives</a:t>
            </a:r>
          </a:p>
          <a:p>
            <a:pPr algn="ctr" marL="0" indent="0" lvl="0">
              <a:lnSpc>
                <a:spcPts val="1111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422229" y="-8062287"/>
            <a:ext cx="18844458" cy="15656604"/>
          </a:xfrm>
          <a:custGeom>
            <a:avLst/>
            <a:gdLst/>
            <a:ahLst/>
            <a:cxnLst/>
            <a:rect r="r" b="b" t="t" l="l"/>
            <a:pathLst>
              <a:path h="15656604" w="18844458">
                <a:moveTo>
                  <a:pt x="0" y="0"/>
                </a:moveTo>
                <a:lnTo>
                  <a:pt x="18844458" y="0"/>
                </a:lnTo>
                <a:lnTo>
                  <a:pt x="18844458" y="15656604"/>
                </a:lnTo>
                <a:lnTo>
                  <a:pt x="0" y="15656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19086" y="1641518"/>
            <a:ext cx="18844458" cy="15656604"/>
          </a:xfrm>
          <a:custGeom>
            <a:avLst/>
            <a:gdLst/>
            <a:ahLst/>
            <a:cxnLst/>
            <a:rect r="r" b="b" t="t" l="l"/>
            <a:pathLst>
              <a:path h="15656604" w="18844458">
                <a:moveTo>
                  <a:pt x="0" y="0"/>
                </a:moveTo>
                <a:lnTo>
                  <a:pt x="18844458" y="0"/>
                </a:lnTo>
                <a:lnTo>
                  <a:pt x="18844458" y="15656603"/>
                </a:lnTo>
                <a:lnTo>
                  <a:pt x="0" y="15656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953172" y="2254835"/>
            <a:ext cx="10938115" cy="6039370"/>
            <a:chOff x="0" y="0"/>
            <a:chExt cx="2880820" cy="15906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80820" cy="1590616"/>
            </a:xfrm>
            <a:custGeom>
              <a:avLst/>
              <a:gdLst/>
              <a:ahLst/>
              <a:cxnLst/>
              <a:rect r="r" b="b" t="t" l="l"/>
              <a:pathLst>
                <a:path h="1590616" w="2880820">
                  <a:moveTo>
                    <a:pt x="9201" y="0"/>
                  </a:moveTo>
                  <a:lnTo>
                    <a:pt x="2871619" y="0"/>
                  </a:lnTo>
                  <a:cubicBezTo>
                    <a:pt x="2874059" y="0"/>
                    <a:pt x="2876400" y="969"/>
                    <a:pt x="2878125" y="2695"/>
                  </a:cubicBezTo>
                  <a:cubicBezTo>
                    <a:pt x="2879851" y="4421"/>
                    <a:pt x="2880820" y="6761"/>
                    <a:pt x="2880820" y="9201"/>
                  </a:cubicBezTo>
                  <a:lnTo>
                    <a:pt x="2880820" y="1581415"/>
                  </a:lnTo>
                  <a:cubicBezTo>
                    <a:pt x="2880820" y="1586496"/>
                    <a:pt x="2876701" y="1590616"/>
                    <a:pt x="2871619" y="1590616"/>
                  </a:cubicBezTo>
                  <a:lnTo>
                    <a:pt x="9201" y="1590616"/>
                  </a:lnTo>
                  <a:cubicBezTo>
                    <a:pt x="4120" y="1590616"/>
                    <a:pt x="0" y="1586496"/>
                    <a:pt x="0" y="1581415"/>
                  </a:cubicBezTo>
                  <a:lnTo>
                    <a:pt x="0" y="9201"/>
                  </a:lnTo>
                  <a:cubicBezTo>
                    <a:pt x="0" y="4120"/>
                    <a:pt x="4120" y="0"/>
                    <a:pt x="92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0F0F0">
                    <a:alpha val="12500"/>
                  </a:srgbClr>
                </a:gs>
                <a:gs pos="100000">
                  <a:srgbClr val="EBEBEB">
                    <a:alpha val="28000"/>
                  </a:srgbClr>
                </a:gs>
              </a:gsLst>
              <a:lin ang="0"/>
            </a:gra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52400"/>
              <a:ext cx="2880820" cy="1743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9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394669" y="3767979"/>
            <a:ext cx="7578572" cy="417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8436" indent="-319218" lvl="1">
              <a:lnSpc>
                <a:spcPts val="4139"/>
              </a:lnSpc>
              <a:buFont typeface="Arial"/>
              <a:buChar char="•"/>
            </a:pPr>
            <a:r>
              <a:rPr lang="en-US" sz="2957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Understand p</a:t>
            </a:r>
            <a:r>
              <a:rPr lang="en-US" sz="2957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roblem and define objectives</a:t>
            </a:r>
          </a:p>
          <a:p>
            <a:pPr algn="l" marL="638436" indent="-319218" lvl="1">
              <a:lnSpc>
                <a:spcPts val="4139"/>
              </a:lnSpc>
              <a:buFont typeface="Arial"/>
              <a:buChar char="•"/>
            </a:pPr>
            <a:r>
              <a:rPr lang="en-US" sz="2957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Collect or upload the dataset</a:t>
            </a:r>
          </a:p>
          <a:p>
            <a:pPr algn="l" marL="638436" indent="-319218" lvl="1">
              <a:lnSpc>
                <a:spcPts val="4139"/>
              </a:lnSpc>
              <a:buFont typeface="Arial"/>
              <a:buChar char="•"/>
            </a:pPr>
            <a:r>
              <a:rPr lang="en-US" sz="2957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Inspect data types, missing values and duplicates</a:t>
            </a:r>
          </a:p>
          <a:p>
            <a:pPr algn="l" marL="638436" indent="-319218" lvl="1">
              <a:lnSpc>
                <a:spcPts val="4139"/>
              </a:lnSpc>
              <a:buFont typeface="Arial"/>
              <a:buChar char="•"/>
            </a:pPr>
            <a:r>
              <a:rPr lang="en-US" sz="2957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Clean and transform the data</a:t>
            </a:r>
          </a:p>
          <a:p>
            <a:pPr algn="l" marL="638436" indent="-319218" lvl="1">
              <a:lnSpc>
                <a:spcPts val="4139"/>
              </a:lnSpc>
              <a:buFont typeface="Arial"/>
              <a:buChar char="•"/>
            </a:pPr>
            <a:r>
              <a:rPr lang="en-US" sz="2957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Perform EDA, calculations or modelling</a:t>
            </a:r>
          </a:p>
          <a:p>
            <a:pPr algn="l" marL="638436" indent="-319218" lvl="1">
              <a:lnSpc>
                <a:spcPts val="4139"/>
              </a:lnSpc>
              <a:buFont typeface="Arial"/>
              <a:buChar char="•"/>
            </a:pPr>
            <a:r>
              <a:rPr lang="en-US" sz="2957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Visualize and interpret the results</a:t>
            </a:r>
          </a:p>
          <a:p>
            <a:pPr algn="l" marL="638436" indent="-319218" lvl="1">
              <a:lnSpc>
                <a:spcPts val="4139"/>
              </a:lnSpc>
              <a:buFont typeface="Arial"/>
              <a:buChar char="•"/>
            </a:pPr>
            <a:r>
              <a:rPr lang="en-US" sz="2957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Validate, document and present the output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4669" y="2354357"/>
            <a:ext cx="9498663" cy="2789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17"/>
              </a:lnSpc>
            </a:pPr>
            <a:r>
              <a:rPr lang="en-US" sz="7941" b="true">
                <a:solidFill>
                  <a:srgbClr val="000000"/>
                </a:solidFill>
                <a:latin typeface="Abhaya Libre Medium"/>
                <a:ea typeface="Abhaya Libre Medium"/>
                <a:cs typeface="Abhaya Libre Medium"/>
                <a:sym typeface="Abhaya Libre Medium"/>
              </a:rPr>
              <a:t>Overall Methodology</a:t>
            </a:r>
          </a:p>
          <a:p>
            <a:pPr algn="ctr" marL="0" indent="0" lvl="0">
              <a:lnSpc>
                <a:spcPts val="1111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1008" y="962131"/>
            <a:ext cx="10171087" cy="1785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7"/>
              </a:lnSpc>
            </a:pPr>
            <a:r>
              <a:rPr lang="en-US" sz="5541" b="true">
                <a:solidFill>
                  <a:srgbClr val="000000"/>
                </a:solidFill>
                <a:latin typeface="Abhaya Libre Medium"/>
                <a:ea typeface="Abhaya Libre Medium"/>
                <a:cs typeface="Abhaya Libre Medium"/>
                <a:sym typeface="Abhaya Libre Medium"/>
              </a:rPr>
              <a:t>Week 1 – Employee Payroll</a:t>
            </a:r>
          </a:p>
          <a:p>
            <a:pPr algn="l">
              <a:lnSpc>
                <a:spcPts val="6497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8515514">
            <a:off x="5435413" y="-558752"/>
            <a:ext cx="16562535" cy="13760706"/>
          </a:xfrm>
          <a:custGeom>
            <a:avLst/>
            <a:gdLst/>
            <a:ahLst/>
            <a:cxnLst/>
            <a:rect r="r" b="b" t="t" l="l"/>
            <a:pathLst>
              <a:path h="13760706" w="16562535">
                <a:moveTo>
                  <a:pt x="0" y="0"/>
                </a:moveTo>
                <a:lnTo>
                  <a:pt x="16562536" y="0"/>
                </a:lnTo>
                <a:lnTo>
                  <a:pt x="16562536" y="13760707"/>
                </a:lnTo>
                <a:lnTo>
                  <a:pt x="0" y="137607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412095" y="749307"/>
            <a:ext cx="7323089" cy="8788386"/>
          </a:xfrm>
          <a:custGeom>
            <a:avLst/>
            <a:gdLst/>
            <a:ahLst/>
            <a:cxnLst/>
            <a:rect r="r" b="b" t="t" l="l"/>
            <a:pathLst>
              <a:path h="8788386" w="7323089">
                <a:moveTo>
                  <a:pt x="0" y="0"/>
                </a:moveTo>
                <a:lnTo>
                  <a:pt x="7323089" y="0"/>
                </a:lnTo>
                <a:lnTo>
                  <a:pt x="7323089" y="8788386"/>
                </a:lnTo>
                <a:lnTo>
                  <a:pt x="0" y="87883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6" t="0" r="-3504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594935"/>
            <a:ext cx="7901457" cy="704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7"/>
              </a:lnSpc>
            </a:pPr>
            <a:r>
              <a:rPr lang="en-US" sz="2639" b="true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Activities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Worked with employee records and payroll-related attributes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Used Excel formulas, filters and Pivot Tables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Analysed salary, experience, city, skills and promotions</a:t>
            </a:r>
          </a:p>
          <a:p>
            <a:pPr algn="l">
              <a:lnSpc>
                <a:spcPts val="4697"/>
              </a:lnSpc>
            </a:pPr>
            <a:r>
              <a:rPr lang="en-US" sz="2639" b="true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Skills Developed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Spreadsheet-based data analysis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Business metric interpretation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Summary tables and structured reporting</a:t>
            </a:r>
          </a:p>
          <a:p>
            <a:pPr algn="l">
              <a:lnSpc>
                <a:spcPts val="4697"/>
              </a:lnSpc>
            </a:pPr>
          </a:p>
          <a:p>
            <a:pPr algn="l">
              <a:lnSpc>
                <a:spcPts val="4697"/>
              </a:lnSpc>
            </a:pPr>
          </a:p>
          <a:p>
            <a:pPr algn="l" marL="0" indent="0" lvl="0">
              <a:lnSpc>
                <a:spcPts val="4697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1724" y="770952"/>
            <a:ext cx="10171087" cy="155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6"/>
              </a:lnSpc>
            </a:pPr>
            <a:r>
              <a:rPr lang="en-US" sz="5540" b="true">
                <a:solidFill>
                  <a:srgbClr val="000000"/>
                </a:solidFill>
                <a:latin typeface="Abhaya Libre Medium"/>
                <a:ea typeface="Abhaya Libre Medium"/>
                <a:cs typeface="Abhaya Libre Medium"/>
                <a:sym typeface="Abhaya Libre Medium"/>
              </a:rPr>
              <a:t>Week 2 – Mental Health Analysis</a:t>
            </a:r>
          </a:p>
          <a:p>
            <a:pPr algn="l">
              <a:lnSpc>
                <a:spcPts val="4538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8515514">
            <a:off x="5435413" y="-558752"/>
            <a:ext cx="16562535" cy="13760706"/>
          </a:xfrm>
          <a:custGeom>
            <a:avLst/>
            <a:gdLst/>
            <a:ahLst/>
            <a:cxnLst/>
            <a:rect r="r" b="b" t="t" l="l"/>
            <a:pathLst>
              <a:path h="13760706" w="16562535">
                <a:moveTo>
                  <a:pt x="0" y="0"/>
                </a:moveTo>
                <a:lnTo>
                  <a:pt x="16562536" y="0"/>
                </a:lnTo>
                <a:lnTo>
                  <a:pt x="16562536" y="13760707"/>
                </a:lnTo>
                <a:lnTo>
                  <a:pt x="0" y="137607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37091" y="2770629"/>
            <a:ext cx="12080804" cy="7101946"/>
          </a:xfrm>
          <a:custGeom>
            <a:avLst/>
            <a:gdLst/>
            <a:ahLst/>
            <a:cxnLst/>
            <a:rect r="r" b="b" t="t" l="l"/>
            <a:pathLst>
              <a:path h="7101946" w="12080804">
                <a:moveTo>
                  <a:pt x="0" y="0"/>
                </a:moveTo>
                <a:lnTo>
                  <a:pt x="12080804" y="0"/>
                </a:lnTo>
                <a:lnTo>
                  <a:pt x="12080804" y="7101945"/>
                </a:lnTo>
                <a:lnTo>
                  <a:pt x="0" y="71019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117" t="0" r="-2132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8952" y="2173903"/>
            <a:ext cx="5815384" cy="704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7"/>
              </a:lnSpc>
            </a:pPr>
            <a:r>
              <a:rPr lang="en-US" sz="2639" b="true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Activities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Imported and prepared survey data in Power BI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Created visuals, cards, charts and filters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Designed an interactive dashboard</a:t>
            </a:r>
          </a:p>
          <a:p>
            <a:pPr algn="l">
              <a:lnSpc>
                <a:spcPts val="4697"/>
              </a:lnSpc>
            </a:pPr>
            <a:r>
              <a:rPr lang="en-US" sz="2639" b="true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Skills Developed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Power Query and data preparation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Dashboard design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Interactive visual storytelling</a:t>
            </a:r>
          </a:p>
          <a:p>
            <a:pPr algn="l">
              <a:lnSpc>
                <a:spcPts val="4697"/>
              </a:lnSpc>
            </a:pPr>
          </a:p>
          <a:p>
            <a:pPr algn="l">
              <a:lnSpc>
                <a:spcPts val="4697"/>
              </a:lnSpc>
            </a:pPr>
          </a:p>
          <a:p>
            <a:pPr algn="l" marL="0" indent="0" lvl="0">
              <a:lnSpc>
                <a:spcPts val="4697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1724" y="914400"/>
            <a:ext cx="10171087" cy="193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6"/>
              </a:lnSpc>
            </a:pPr>
            <a:r>
              <a:rPr lang="en-US" sz="5540" b="true">
                <a:solidFill>
                  <a:srgbClr val="000000"/>
                </a:solidFill>
                <a:latin typeface="Abhaya Libre Medium"/>
                <a:ea typeface="Abhaya Libre Medium"/>
                <a:cs typeface="Abhaya Libre Medium"/>
                <a:sym typeface="Abhaya Libre Medium"/>
              </a:rPr>
              <a:t>Week 3 – Athlete Data Analytics</a:t>
            </a:r>
          </a:p>
          <a:p>
            <a:pPr algn="l">
              <a:lnSpc>
                <a:spcPts val="7756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8515514">
            <a:off x="4979533" y="-776782"/>
            <a:ext cx="16562535" cy="13760706"/>
          </a:xfrm>
          <a:custGeom>
            <a:avLst/>
            <a:gdLst/>
            <a:ahLst/>
            <a:cxnLst/>
            <a:rect r="r" b="b" t="t" l="l"/>
            <a:pathLst>
              <a:path h="13760706" w="16562535">
                <a:moveTo>
                  <a:pt x="0" y="0"/>
                </a:moveTo>
                <a:lnTo>
                  <a:pt x="16562535" y="0"/>
                </a:lnTo>
                <a:lnTo>
                  <a:pt x="16562535" y="13760707"/>
                </a:lnTo>
                <a:lnTo>
                  <a:pt x="0" y="137607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63360" y="4912490"/>
            <a:ext cx="10822893" cy="4148707"/>
          </a:xfrm>
          <a:custGeom>
            <a:avLst/>
            <a:gdLst/>
            <a:ahLst/>
            <a:cxnLst/>
            <a:rect r="r" b="b" t="t" l="l"/>
            <a:pathLst>
              <a:path h="4148707" w="10822893">
                <a:moveTo>
                  <a:pt x="0" y="0"/>
                </a:moveTo>
                <a:lnTo>
                  <a:pt x="10822893" y="0"/>
                </a:lnTo>
                <a:lnTo>
                  <a:pt x="10822893" y="4148707"/>
                </a:lnTo>
                <a:lnTo>
                  <a:pt x="0" y="41487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98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9131" y="2011711"/>
            <a:ext cx="7123563" cy="8816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7"/>
              </a:lnSpc>
            </a:pPr>
            <a:r>
              <a:rPr lang="en-US" sz="2639" b="true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Workflow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Dataset inspection and descriptive statistics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Missing-value treatment and duplicate checks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IQR-based outlier detection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Visualization and correlation analysis</a:t>
            </a:r>
          </a:p>
          <a:p>
            <a:pPr algn="l">
              <a:lnSpc>
                <a:spcPts val="4697"/>
              </a:lnSpc>
            </a:pPr>
            <a:r>
              <a:rPr lang="en-US" sz="2639" b="true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Feature Engineering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BMI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Is_Medalist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Age_Group and Decade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Country_Event_Diversity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Encoding and StandardScaler</a:t>
            </a:r>
          </a:p>
          <a:p>
            <a:pPr algn="l">
              <a:lnSpc>
                <a:spcPts val="4697"/>
              </a:lnSpc>
            </a:pPr>
          </a:p>
          <a:p>
            <a:pPr algn="l">
              <a:lnSpc>
                <a:spcPts val="4697"/>
              </a:lnSpc>
            </a:pPr>
          </a:p>
          <a:p>
            <a:pPr algn="l">
              <a:lnSpc>
                <a:spcPts val="4697"/>
              </a:lnSpc>
            </a:pPr>
          </a:p>
          <a:p>
            <a:pPr algn="l" marL="0" indent="0" lvl="0">
              <a:lnSpc>
                <a:spcPts val="4697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1721" y="1200858"/>
            <a:ext cx="10171087" cy="954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6"/>
              </a:lnSpc>
            </a:pPr>
            <a:r>
              <a:rPr lang="en-US" sz="5540" b="true">
                <a:solidFill>
                  <a:srgbClr val="000000"/>
                </a:solidFill>
                <a:latin typeface="Abhaya Libre Medium"/>
                <a:ea typeface="Abhaya Libre Medium"/>
                <a:cs typeface="Abhaya Libre Medium"/>
                <a:sym typeface="Abhaya Libre Medium"/>
              </a:rPr>
              <a:t>Week 4 – Online gaming behaviour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8515514">
            <a:off x="5435413" y="-558752"/>
            <a:ext cx="16562535" cy="13760706"/>
          </a:xfrm>
          <a:custGeom>
            <a:avLst/>
            <a:gdLst/>
            <a:ahLst/>
            <a:cxnLst/>
            <a:rect r="r" b="b" t="t" l="l"/>
            <a:pathLst>
              <a:path h="13760706" w="16562535">
                <a:moveTo>
                  <a:pt x="0" y="0"/>
                </a:moveTo>
                <a:lnTo>
                  <a:pt x="16562536" y="0"/>
                </a:lnTo>
                <a:lnTo>
                  <a:pt x="16562536" y="13760707"/>
                </a:lnTo>
                <a:lnTo>
                  <a:pt x="0" y="137607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32844" y="3255923"/>
            <a:ext cx="9475789" cy="4825662"/>
          </a:xfrm>
          <a:custGeom>
            <a:avLst/>
            <a:gdLst/>
            <a:ahLst/>
            <a:cxnLst/>
            <a:rect r="r" b="b" t="t" l="l"/>
            <a:pathLst>
              <a:path h="4825662" w="9475789">
                <a:moveTo>
                  <a:pt x="0" y="0"/>
                </a:moveTo>
                <a:lnTo>
                  <a:pt x="9475789" y="0"/>
                </a:lnTo>
                <a:lnTo>
                  <a:pt x="9475789" y="4825662"/>
                </a:lnTo>
                <a:lnTo>
                  <a:pt x="0" y="48256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73" t="-2053" r="-11589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5240" y="2535472"/>
            <a:ext cx="8019037" cy="704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7"/>
              </a:lnSpc>
            </a:pPr>
            <a:r>
              <a:rPr lang="en-US" sz="2639" b="true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Activities</a:t>
            </a:r>
          </a:p>
          <a:p>
            <a:pPr algn="just" marL="569762" indent="-284881" lvl="1">
              <a:lnSpc>
                <a:spcPts val="4697"/>
              </a:lnSpc>
              <a:buFont typeface="Arial"/>
              <a:buChar char="•"/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Split the dataset into 80% training and 20% testing</a:t>
            </a:r>
          </a:p>
          <a:p>
            <a:pPr algn="just" marL="569762" indent="-284881" lvl="1">
              <a:lnSpc>
                <a:spcPts val="4697"/>
              </a:lnSpc>
              <a:buFont typeface="Arial"/>
              <a:buChar char="•"/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Built Logistic Regression, Decision Tree, Random Forest, KNN and SVM models</a:t>
            </a:r>
          </a:p>
          <a:p>
            <a:pPr algn="just" marL="569762" indent="-284881" lvl="1">
              <a:lnSpc>
                <a:spcPts val="4697"/>
              </a:lnSpc>
              <a:buFont typeface="Arial"/>
              <a:buChar char="•"/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Applied PCA and retained 95% variance before KNN</a:t>
            </a:r>
          </a:p>
          <a:p>
            <a:pPr algn="just">
              <a:lnSpc>
                <a:spcPts val="4697"/>
              </a:lnSpc>
            </a:pPr>
            <a:r>
              <a:rPr lang="en-US" sz="2639" b="true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Skills Developed</a:t>
            </a:r>
          </a:p>
          <a:p>
            <a:pPr algn="just" marL="569762" indent="-284881" lvl="1">
              <a:lnSpc>
                <a:spcPts val="4697"/>
              </a:lnSpc>
              <a:buFont typeface="Arial"/>
              <a:buChar char="•"/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Model comparison and evaluation</a:t>
            </a:r>
          </a:p>
          <a:p>
            <a:pPr algn="just" marL="569762" indent="-284881" lvl="1">
              <a:lnSpc>
                <a:spcPts val="4697"/>
              </a:lnSpc>
              <a:buFont typeface="Arial"/>
              <a:buChar char="•"/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PCA and dimensionality reduction</a:t>
            </a:r>
          </a:p>
          <a:p>
            <a:pPr algn="just" marL="569762" indent="-284881" lvl="1">
              <a:lnSpc>
                <a:spcPts val="4697"/>
              </a:lnSpc>
              <a:buFont typeface="Arial"/>
              <a:buChar char="•"/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Accuracy, Precision, Recall and F1-score analysis</a:t>
            </a:r>
          </a:p>
          <a:p>
            <a:pPr algn="just" marL="569762" indent="-284881" lvl="1">
              <a:lnSpc>
                <a:spcPts val="4697"/>
              </a:lnSpc>
              <a:buFont typeface="Arial"/>
              <a:buChar char="•"/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Confusion matrix interpretation</a:t>
            </a:r>
          </a:p>
          <a:p>
            <a:pPr algn="just">
              <a:lnSpc>
                <a:spcPts val="4697"/>
              </a:lnSpc>
            </a:pPr>
          </a:p>
          <a:p>
            <a:pPr algn="l" marL="0" indent="0" lvl="0">
              <a:lnSpc>
                <a:spcPts val="4697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2083" y="1211713"/>
            <a:ext cx="11360341" cy="193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6"/>
              </a:lnSpc>
            </a:pPr>
            <a:r>
              <a:rPr lang="en-US" sz="5540" b="true">
                <a:solidFill>
                  <a:srgbClr val="000000"/>
                </a:solidFill>
                <a:latin typeface="Abhaya Libre Medium"/>
                <a:ea typeface="Abhaya Libre Medium"/>
                <a:cs typeface="Abhaya Libre Medium"/>
                <a:sym typeface="Abhaya Libre Medium"/>
              </a:rPr>
              <a:t>Week 5 – Professional Development</a:t>
            </a:r>
          </a:p>
          <a:p>
            <a:pPr algn="l">
              <a:lnSpc>
                <a:spcPts val="7756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8515514">
            <a:off x="5435413" y="-558752"/>
            <a:ext cx="16562535" cy="13760706"/>
          </a:xfrm>
          <a:custGeom>
            <a:avLst/>
            <a:gdLst/>
            <a:ahLst/>
            <a:cxnLst/>
            <a:rect r="r" b="b" t="t" l="l"/>
            <a:pathLst>
              <a:path h="13760706" w="16562535">
                <a:moveTo>
                  <a:pt x="0" y="0"/>
                </a:moveTo>
                <a:lnTo>
                  <a:pt x="16562536" y="0"/>
                </a:lnTo>
                <a:lnTo>
                  <a:pt x="16562536" y="13760707"/>
                </a:lnTo>
                <a:lnTo>
                  <a:pt x="0" y="137607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576654" y="2509484"/>
            <a:ext cx="5201798" cy="5755204"/>
          </a:xfrm>
          <a:custGeom>
            <a:avLst/>
            <a:gdLst/>
            <a:ahLst/>
            <a:cxnLst/>
            <a:rect r="r" b="b" t="t" l="l"/>
            <a:pathLst>
              <a:path h="5755204" w="5201798">
                <a:moveTo>
                  <a:pt x="0" y="0"/>
                </a:moveTo>
                <a:lnTo>
                  <a:pt x="5201798" y="0"/>
                </a:lnTo>
                <a:lnTo>
                  <a:pt x="5201798" y="5755204"/>
                </a:lnTo>
                <a:lnTo>
                  <a:pt x="0" y="57552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91" r="0" b="-19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9310" y="2357084"/>
            <a:ext cx="6330727" cy="704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7"/>
              </a:lnSpc>
            </a:pPr>
            <a:r>
              <a:rPr lang="en-US" sz="2639" b="true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Activities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Resume preparation and improvement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LinkedIn profile development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Communication and presentation practice</a:t>
            </a:r>
          </a:p>
          <a:p>
            <a:pPr algn="l">
              <a:lnSpc>
                <a:spcPts val="4697"/>
              </a:lnSpc>
            </a:pPr>
            <a:r>
              <a:rPr lang="en-US" sz="2639" b="true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Professional Skills</a:t>
            </a:r>
          </a:p>
          <a:p>
            <a:pPr algn="l">
              <a:lnSpc>
                <a:spcPts val="4697"/>
              </a:lnSpc>
            </a:pPr>
            <a:r>
              <a:rPr lang="en-US" sz="2639" b="true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•</a:t>
            </a: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Interview preparation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Workplace etiquette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Teamwork and confidence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Professional profile building</a:t>
            </a:r>
          </a:p>
          <a:p>
            <a:pPr algn="l">
              <a:lnSpc>
                <a:spcPts val="4697"/>
              </a:lnSpc>
            </a:pPr>
          </a:p>
          <a:p>
            <a:pPr algn="l">
              <a:lnSpc>
                <a:spcPts val="4697"/>
              </a:lnSpc>
            </a:pPr>
          </a:p>
          <a:p>
            <a:pPr algn="l" marL="0" indent="0" lvl="0">
              <a:lnSpc>
                <a:spcPts val="4697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422229" y="-8062287"/>
            <a:ext cx="18844458" cy="15656604"/>
          </a:xfrm>
          <a:custGeom>
            <a:avLst/>
            <a:gdLst/>
            <a:ahLst/>
            <a:cxnLst/>
            <a:rect r="r" b="b" t="t" l="l"/>
            <a:pathLst>
              <a:path h="15656604" w="18844458">
                <a:moveTo>
                  <a:pt x="0" y="0"/>
                </a:moveTo>
                <a:lnTo>
                  <a:pt x="18844458" y="0"/>
                </a:lnTo>
                <a:lnTo>
                  <a:pt x="18844458" y="15656604"/>
                </a:lnTo>
                <a:lnTo>
                  <a:pt x="0" y="15656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19086" y="1641518"/>
            <a:ext cx="18844458" cy="15656604"/>
          </a:xfrm>
          <a:custGeom>
            <a:avLst/>
            <a:gdLst/>
            <a:ahLst/>
            <a:cxnLst/>
            <a:rect r="r" b="b" t="t" l="l"/>
            <a:pathLst>
              <a:path h="15656604" w="18844458">
                <a:moveTo>
                  <a:pt x="0" y="0"/>
                </a:moveTo>
                <a:lnTo>
                  <a:pt x="18844458" y="0"/>
                </a:lnTo>
                <a:lnTo>
                  <a:pt x="18844458" y="15656603"/>
                </a:lnTo>
                <a:lnTo>
                  <a:pt x="0" y="15656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8352" y="2665592"/>
            <a:ext cx="8725648" cy="6057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94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Week 1: </a:t>
            </a:r>
            <a:r>
              <a:rPr lang="en-US" sz="2639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orientation, analytics fundamentals, employee payroll SQL exercises.</a:t>
            </a:r>
          </a:p>
          <a:p>
            <a:pPr algn="just" marL="0" indent="0" lvl="0">
              <a:lnSpc>
                <a:spcPts val="3694"/>
              </a:lnSpc>
            </a:pPr>
            <a:r>
              <a:rPr lang="en-US" sz="2639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Week 2: mental health data preparation and Power BI dashboard.</a:t>
            </a:r>
          </a:p>
          <a:p>
            <a:pPr algn="just" marL="0" indent="0" lvl="0">
              <a:lnSpc>
                <a:spcPts val="3694"/>
              </a:lnSpc>
            </a:pPr>
            <a:r>
              <a:rPr lang="en-US" sz="2639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Week 3: Olympic athlete EDA, cleaning, visualisation, and statistical exploration.</a:t>
            </a:r>
          </a:p>
          <a:p>
            <a:pPr algn="just" marL="0" indent="0" lvl="0">
              <a:lnSpc>
                <a:spcPts val="3694"/>
              </a:lnSpc>
            </a:pPr>
            <a:r>
              <a:rPr lang="en-US" sz="2639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Week 4: gaming engagement classification, PCA, KNN tuning, model comparison.</a:t>
            </a:r>
          </a:p>
          <a:p>
            <a:pPr algn="just" marL="0" indent="0" lvl="0">
              <a:lnSpc>
                <a:spcPts val="3694"/>
              </a:lnSpc>
            </a:pPr>
            <a:r>
              <a:rPr lang="en-US" sz="2639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Week 5: resume, LinkedIn, communication, presentation, and interview preparation.</a:t>
            </a:r>
          </a:p>
          <a:p>
            <a:pPr algn="just" marL="0" indent="0" lvl="0">
              <a:lnSpc>
                <a:spcPts val="3694"/>
              </a:lnSpc>
            </a:pPr>
            <a:r>
              <a:rPr lang="en-US" sz="2639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Week 6: debugging, documentation, final review, and progress diary verification.</a:t>
            </a:r>
          </a:p>
          <a:p>
            <a:pPr algn="just" marL="0" indent="0" lvl="0">
              <a:lnSpc>
                <a:spcPts val="369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-203780" y="914400"/>
            <a:ext cx="6763379" cy="193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6"/>
              </a:lnSpc>
            </a:pPr>
            <a:r>
              <a:rPr lang="en-US" sz="5540" b="true">
                <a:solidFill>
                  <a:srgbClr val="000000"/>
                </a:solidFill>
                <a:latin typeface="Abhaya Libre Medium"/>
                <a:ea typeface="Abhaya Libre Medium"/>
                <a:cs typeface="Abhaya Libre Medium"/>
                <a:sym typeface="Abhaya Libre Medium"/>
              </a:rPr>
              <a:t>Six-Week Progress</a:t>
            </a:r>
          </a:p>
          <a:p>
            <a:pPr algn="ctr" marL="0" indent="0" lvl="0">
              <a:lnSpc>
                <a:spcPts val="775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1366" y="1121575"/>
            <a:ext cx="10171087" cy="193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6"/>
              </a:lnSpc>
            </a:pPr>
            <a:r>
              <a:rPr lang="en-US" sz="5540" b="true">
                <a:solidFill>
                  <a:srgbClr val="000000"/>
                </a:solidFill>
                <a:latin typeface="Abhaya Libre Medium"/>
                <a:ea typeface="Abhaya Libre Medium"/>
                <a:cs typeface="Abhaya Libre Medium"/>
                <a:sym typeface="Abhaya Libre Medium"/>
              </a:rPr>
              <a:t>Week 6 – Final Review</a:t>
            </a:r>
          </a:p>
          <a:p>
            <a:pPr algn="l">
              <a:lnSpc>
                <a:spcPts val="7756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8515514">
            <a:off x="5435413" y="-558752"/>
            <a:ext cx="16562535" cy="13760706"/>
          </a:xfrm>
          <a:custGeom>
            <a:avLst/>
            <a:gdLst/>
            <a:ahLst/>
            <a:cxnLst/>
            <a:rect r="r" b="b" t="t" l="l"/>
            <a:pathLst>
              <a:path h="13760706" w="16562535">
                <a:moveTo>
                  <a:pt x="0" y="0"/>
                </a:moveTo>
                <a:lnTo>
                  <a:pt x="16562536" y="0"/>
                </a:lnTo>
                <a:lnTo>
                  <a:pt x="16562536" y="13760707"/>
                </a:lnTo>
                <a:lnTo>
                  <a:pt x="0" y="137607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8952" y="2575114"/>
            <a:ext cx="6310906" cy="7635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7"/>
              </a:lnSpc>
            </a:pPr>
            <a:r>
              <a:rPr lang="en-US" sz="2639" b="true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Final Activities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Project refinement and debugging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Documentation and presentation preparation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Incorporation of mentor feedback</a:t>
            </a:r>
          </a:p>
          <a:p>
            <a:pPr algn="l">
              <a:lnSpc>
                <a:spcPts val="4697"/>
              </a:lnSpc>
            </a:pPr>
            <a:r>
              <a:rPr lang="en-US" sz="2639" b="true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Diary Verification</a:t>
            </a:r>
          </a:p>
          <a:p>
            <a:pPr algn="l">
              <a:lnSpc>
                <a:spcPts val="4697"/>
              </a:lnSpc>
            </a:pPr>
            <a:r>
              <a:rPr lang="en-US" sz="2639" b="true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•</a:t>
            </a: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Progress diary checked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Progress diary marked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Required signature obtained</a:t>
            </a:r>
          </a:p>
          <a:p>
            <a:pPr algn="l">
              <a:lnSpc>
                <a:spcPts val="4697"/>
              </a:lnSpc>
            </a:pPr>
            <a:r>
              <a:rPr lang="en-US" sz="263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Final documentation reviewed</a:t>
            </a:r>
          </a:p>
          <a:p>
            <a:pPr algn="l">
              <a:lnSpc>
                <a:spcPts val="4697"/>
              </a:lnSpc>
            </a:pPr>
          </a:p>
          <a:p>
            <a:pPr algn="l">
              <a:lnSpc>
                <a:spcPts val="4697"/>
              </a:lnSpc>
            </a:pPr>
          </a:p>
          <a:p>
            <a:pPr algn="l" marL="0" indent="0" lvl="0">
              <a:lnSpc>
                <a:spcPts val="4697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71504" y="3247987"/>
            <a:ext cx="14288727" cy="11871550"/>
          </a:xfrm>
          <a:custGeom>
            <a:avLst/>
            <a:gdLst/>
            <a:ahLst/>
            <a:cxnLst/>
            <a:rect r="r" b="b" t="t" l="l"/>
            <a:pathLst>
              <a:path h="11871550" w="14288727">
                <a:moveTo>
                  <a:pt x="0" y="0"/>
                </a:moveTo>
                <a:lnTo>
                  <a:pt x="14288727" y="0"/>
                </a:lnTo>
                <a:lnTo>
                  <a:pt x="14288727" y="11871550"/>
                </a:lnTo>
                <a:lnTo>
                  <a:pt x="0" y="118715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771611">
            <a:off x="-6350807" y="-7905785"/>
            <a:ext cx="14288727" cy="11871550"/>
          </a:xfrm>
          <a:custGeom>
            <a:avLst/>
            <a:gdLst/>
            <a:ahLst/>
            <a:cxnLst/>
            <a:rect r="r" b="b" t="t" l="l"/>
            <a:pathLst>
              <a:path h="11871550" w="14288727">
                <a:moveTo>
                  <a:pt x="0" y="0"/>
                </a:moveTo>
                <a:lnTo>
                  <a:pt x="14288727" y="0"/>
                </a:lnTo>
                <a:lnTo>
                  <a:pt x="14288727" y="11871550"/>
                </a:lnTo>
                <a:lnTo>
                  <a:pt x="0" y="118715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3357" y="663082"/>
            <a:ext cx="10224645" cy="193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56"/>
              </a:lnSpc>
              <a:spcBef>
                <a:spcPct val="0"/>
              </a:spcBef>
            </a:pPr>
            <a:r>
              <a:rPr lang="en-US" b="true" sz="5540">
                <a:solidFill>
                  <a:srgbClr val="000000"/>
                </a:solidFill>
                <a:latin typeface="Abhaya Libre Medium"/>
                <a:ea typeface="Abhaya Libre Medium"/>
                <a:cs typeface="Abhaya Libre Medium"/>
                <a:sym typeface="Abhaya Libre Medium"/>
              </a:rPr>
              <a:t>Challenges &amp; Learning Outcomes</a:t>
            </a:r>
          </a:p>
          <a:p>
            <a:pPr algn="l" marL="0" indent="0" lvl="0">
              <a:lnSpc>
                <a:spcPts val="7756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93556" y="2169752"/>
            <a:ext cx="9437059" cy="544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24"/>
              </a:lnSpc>
            </a:pPr>
            <a:r>
              <a:rPr lang="en-US" sz="2803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Missing/inc</a:t>
            </a:r>
            <a:r>
              <a:rPr lang="en-US" sz="2803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onsistent data → inspection and context-appropriate treatment.</a:t>
            </a:r>
          </a:p>
          <a:p>
            <a:pPr algn="l" marL="0" indent="0" lvl="0">
              <a:lnSpc>
                <a:spcPts val="3924"/>
              </a:lnSpc>
            </a:pPr>
            <a:r>
              <a:rPr lang="en-US" sz="2803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Outliers → IQR detection and capping while retaining legitimate observations.</a:t>
            </a:r>
          </a:p>
          <a:p>
            <a:pPr algn="l" marL="0" indent="0" lvl="0">
              <a:lnSpc>
                <a:spcPts val="3924"/>
              </a:lnSpc>
            </a:pPr>
            <a:r>
              <a:rPr lang="en-US" sz="2803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Different tools and datasets → adapted workflows to each analytical task.</a:t>
            </a:r>
          </a:p>
          <a:p>
            <a:pPr algn="l" marL="0" indent="0" lvl="0">
              <a:lnSpc>
                <a:spcPts val="3924"/>
              </a:lnSpc>
            </a:pPr>
            <a:r>
              <a:rPr lang="en-US" sz="2803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Model evaluation → compared multiple classifiers using several metrics.</a:t>
            </a:r>
          </a:p>
          <a:p>
            <a:pPr algn="l" marL="0" indent="0" lvl="0">
              <a:lnSpc>
                <a:spcPts val="3924"/>
              </a:lnSpc>
            </a:pPr>
            <a:r>
              <a:rPr lang="en-US" sz="2803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Improved Python, SQL, Power BI, debugging, teamwork, documentation, and presentation skills.</a:t>
            </a:r>
          </a:p>
          <a:p>
            <a:pPr algn="l" marL="0" indent="0" lvl="0">
              <a:lnSpc>
                <a:spcPts val="3924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37355" y="2574076"/>
            <a:ext cx="14288727" cy="11871550"/>
          </a:xfrm>
          <a:custGeom>
            <a:avLst/>
            <a:gdLst/>
            <a:ahLst/>
            <a:cxnLst/>
            <a:rect r="r" b="b" t="t" l="l"/>
            <a:pathLst>
              <a:path h="11871550" w="14288727">
                <a:moveTo>
                  <a:pt x="0" y="0"/>
                </a:moveTo>
                <a:lnTo>
                  <a:pt x="14288727" y="0"/>
                </a:lnTo>
                <a:lnTo>
                  <a:pt x="14288727" y="11871550"/>
                </a:lnTo>
                <a:lnTo>
                  <a:pt x="0" y="118715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771611">
            <a:off x="-4487643" y="-6835456"/>
            <a:ext cx="14288727" cy="11871550"/>
          </a:xfrm>
          <a:custGeom>
            <a:avLst/>
            <a:gdLst/>
            <a:ahLst/>
            <a:cxnLst/>
            <a:rect r="r" b="b" t="t" l="l"/>
            <a:pathLst>
              <a:path h="11871550" w="14288727">
                <a:moveTo>
                  <a:pt x="0" y="0"/>
                </a:moveTo>
                <a:lnTo>
                  <a:pt x="14288727" y="0"/>
                </a:lnTo>
                <a:lnTo>
                  <a:pt x="14288727" y="11871550"/>
                </a:lnTo>
                <a:lnTo>
                  <a:pt x="0" y="118715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1114" y="1113350"/>
            <a:ext cx="8024525" cy="193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6"/>
              </a:lnSpc>
            </a:pPr>
            <a:r>
              <a:rPr lang="en-US" sz="5540" b="true">
                <a:solidFill>
                  <a:srgbClr val="000000"/>
                </a:solidFill>
                <a:latin typeface="Abhaya Libre Medium"/>
                <a:ea typeface="Abhaya Libre Medium"/>
                <a:cs typeface="Abhaya Libre Medium"/>
                <a:sym typeface="Abhaya Libre Medium"/>
              </a:rPr>
              <a:t>Conclusion &amp; Future Scope</a:t>
            </a:r>
          </a:p>
          <a:p>
            <a:pPr algn="l" marL="0" indent="0" lvl="0">
              <a:lnSpc>
                <a:spcPts val="7756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41114" y="2724737"/>
            <a:ext cx="9219029" cy="544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24"/>
              </a:lnSpc>
            </a:pPr>
            <a:r>
              <a:rPr lang="en-US" sz="2803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Internship c</a:t>
            </a:r>
            <a:r>
              <a:rPr lang="en-US" sz="2803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onnected academic learning with practical analytics projects.</a:t>
            </a:r>
          </a:p>
          <a:p>
            <a:pPr algn="l" marL="0" indent="0" lvl="0">
              <a:lnSpc>
                <a:spcPts val="3924"/>
              </a:lnSpc>
            </a:pPr>
            <a:r>
              <a:rPr lang="en-US" sz="2803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Effective analytics requires problem understanding, data validation, suitable methods, and clear communication.</a:t>
            </a:r>
          </a:p>
          <a:p>
            <a:pPr algn="l" marL="0" indent="0" lvl="0">
              <a:lnSpc>
                <a:spcPts val="3924"/>
              </a:lnSpc>
            </a:pPr>
            <a:r>
              <a:rPr lang="en-US" sz="2803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Future work: richer KPIs, deeper athlete analysis, and more robust ML validation.</a:t>
            </a:r>
          </a:p>
          <a:p>
            <a:pPr algn="l" marL="0" indent="0" lvl="0">
              <a:lnSpc>
                <a:spcPts val="3924"/>
              </a:lnSpc>
            </a:pPr>
            <a:r>
              <a:rPr lang="en-US" sz="2803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Online gaming analysis can be extended with further feature exploration and model tuning.</a:t>
            </a:r>
          </a:p>
          <a:p>
            <a:pPr algn="l" marL="0" indent="0" lvl="0">
              <a:lnSpc>
                <a:spcPts val="3924"/>
              </a:lnSpc>
            </a:pPr>
            <a:r>
              <a:rPr lang="en-US" sz="2803" strike="noStrike" u="none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Continue building portfolio projects in data analytics and business intelligence.</a:t>
            </a:r>
          </a:p>
          <a:p>
            <a:pPr algn="l" marL="0" indent="0" lvl="0">
              <a:lnSpc>
                <a:spcPts val="3924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67687" y="3920736"/>
            <a:ext cx="10176288" cy="8454799"/>
          </a:xfrm>
          <a:custGeom>
            <a:avLst/>
            <a:gdLst/>
            <a:ahLst/>
            <a:cxnLst/>
            <a:rect r="r" b="b" t="t" l="l"/>
            <a:pathLst>
              <a:path h="8454799" w="10176288">
                <a:moveTo>
                  <a:pt x="0" y="0"/>
                </a:moveTo>
                <a:lnTo>
                  <a:pt x="10176287" y="0"/>
                </a:lnTo>
                <a:lnTo>
                  <a:pt x="10176287" y="8454799"/>
                </a:lnTo>
                <a:lnTo>
                  <a:pt x="0" y="84547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63190" y="-2711283"/>
            <a:ext cx="10176288" cy="8454799"/>
          </a:xfrm>
          <a:custGeom>
            <a:avLst/>
            <a:gdLst/>
            <a:ahLst/>
            <a:cxnLst/>
            <a:rect r="r" b="b" t="t" l="l"/>
            <a:pathLst>
              <a:path h="8454799" w="10176288">
                <a:moveTo>
                  <a:pt x="0" y="0"/>
                </a:moveTo>
                <a:lnTo>
                  <a:pt x="10176287" y="0"/>
                </a:lnTo>
                <a:lnTo>
                  <a:pt x="10176287" y="8454799"/>
                </a:lnTo>
                <a:lnTo>
                  <a:pt x="0" y="84547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65700" y="3673086"/>
            <a:ext cx="11546207" cy="207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3"/>
              </a:lnSpc>
              <a:spcBef>
                <a:spcPct val="0"/>
              </a:spcBef>
            </a:pPr>
            <a:r>
              <a:rPr lang="en-US" b="true" sz="12002">
                <a:solidFill>
                  <a:srgbClr val="000000"/>
                </a:solidFill>
                <a:latin typeface="Abhaya Libre Medium"/>
                <a:ea typeface="Abhaya Libre Medium"/>
                <a:cs typeface="Abhaya Libre Medium"/>
                <a:sym typeface="Abhaya Libre Medium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DAHXVDEBVYw</dc:identifier>
  <dcterms:modified xsi:type="dcterms:W3CDTF">2011-08-01T06:04:30Z</dcterms:modified>
  <cp:revision>1</cp:revision>
  <dc:title>jaypee institute of informatio and technology</dc:title>
</cp:coreProperties>
</file>